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56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863840" y="0"/>
            <a:ext cx="5029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8321040" y="274320"/>
            <a:ext cx="4114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7589520" y="457200"/>
            <a:ext cx="3200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91440" y="4206240"/>
            <a:ext cx="41148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548640" y="4480560"/>
            <a:ext cx="3200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2920"/>
            <a:ext cx="2926080" cy="5029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141" y="502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</a:rPr>
              <a:t>Department of Applied Mathematics and Statistics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79" y="1097280"/>
            <a:ext cx="75643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USAGE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11480" y="2031431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GPA ANALYSIS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57 students | Logistic Regression on GPA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surveyed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375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GPA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≥3.5 = 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Renamed Columns: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ai_frequency — How often AI tools used (Never/Sometimes/Often/Daily)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hours_per_week — Weekly hours spent using AI for study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copy_behavior — How often AI content copied to assignments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improved_grades — AI improved grades? (1–5 Likert)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cannot_complete_without_ai — AI dependence level (1–5 Likert)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critical_thinking — AI improved critical thinking? (1–5 Likert)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Skip Header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2 decorative header rows in CSV; actual column headers on row 3.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4028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Rename 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columns renamed to short, snake_case identifiers for analysis.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2044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2044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Drop Index Column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'No.' column — row number, not a feature.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96012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96012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1051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13716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found after header fix. Dataset is complete (57 × 7).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24028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24028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331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Encode Categoricals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encoding: AI Frequency (0–3), Hours/Week (0–7), Copy Behavior (0–4).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520440"/>
            <a:ext cx="502920" cy="1115568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52044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3611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Binary Target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≥ 3.5 → High (1) = 25 students | GPA &lt; 3.5 → Low (0) = 32 students.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/home/claude/eda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EDA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8288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Daily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18288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GPA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8288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GPA (≥3.5)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005840"/>
            <a:ext cx="18288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Sometimes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42062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F0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Frequency vs GPA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990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users averaged GPA 3.22, nearly identical to Sometimes users (3.25). Frequency alone doesn't predict GPA.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76472"/>
            <a:ext cx="42062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F0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Copy Behavior Pattern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'Never' copy averaged the highest GPA (3.50), same as 'Always' copiers. 'Rarely' had lowest avg (2.88).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42062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F0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Improved Grades Perception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2990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rated AI as improving their grades (4–5) tend to have higher GPA. Strongest positive signal in correlations.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776472"/>
            <a:ext cx="42062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F0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 per Week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using AI more than 6 hrs/week averaged GPA 3.10, while 1–3 hr users averaged 3.18. Moderate inverse pattern.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023360" cy="457200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023360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14447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≥ 3.5 (Binary)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4023360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9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249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split (full dataset)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students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4023360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540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(Low GPA)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0540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students (56%)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56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(High GPA)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456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students (44%)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4023360" cy="402336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58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858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26110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86868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868680"/>
            <a:ext cx="42519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8686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 REPORT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14173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4572000" y="14173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4572000" y="2148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542032"/>
            <a:ext cx="41605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54203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50992" y="254203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84264" y="254203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17536" y="2542032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2926080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926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GPA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50992" y="2926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4264" y="2926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17536" y="29260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310128"/>
            <a:ext cx="4160520" cy="384048"/>
          </a:xfrm>
          <a:prstGeom prst="rect">
            <a:avLst/>
          </a:prstGeom>
          <a:solidFill>
            <a:srgbClr val="F0F0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31012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GPA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50992" y="331012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84264" y="331012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17536" y="3310128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17720" y="369417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369417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50992" y="369417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84264" y="369417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17536" y="3694176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17720" y="4114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17720" y="4389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TN=25  FP=7  FN=12  TP=13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F0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COEFFICIENTS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predicting High GPA (≥ 3.5)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Frequency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34640" y="1261872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261872"/>
            <a:ext cx="4114800" cy="365760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Hours/Week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883664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883664"/>
            <a:ext cx="3917049" cy="365760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3129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4323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Grades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505456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505456"/>
            <a:ext cx="2759141" cy="365760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5221" y="2432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Dependence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3127248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3127248"/>
            <a:ext cx="1713943" cy="365760"/>
          </a:xfrm>
          <a:prstGeom prst="rect">
            <a:avLst/>
          </a:prstGeom>
          <a:solidFill>
            <a:srgbClr val="C9F01E"/>
          </a:solidFill>
          <a:ln w="12700">
            <a:solidFill>
              <a:srgbClr val="C9F0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023" y="3054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F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675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Behavior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3749040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3749040"/>
            <a:ext cx="80515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6595" y="3675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4370832"/>
            <a:ext cx="594360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4370832"/>
            <a:ext cx="324887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0967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increases High GPA probability   |   Negative → decreases 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RESULTS</a:t>
            </a:r>
            <a:endParaRPr lang="en-US" sz="2800" dirty="0"/>
          </a:p>
        </p:txBody>
      </p:sp>
      <p:pic>
        <p:nvPicPr>
          <p:cNvPr id="3" name="Image 0" descr="/home/claude/m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0" y="91440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8321040" y="274320"/>
            <a:ext cx="36576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91440" y="4389120"/>
            <a:ext cx="36576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548640" y="457200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260875"/>
            <a:ext cx="32918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60875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87788"/>
            <a:ext cx="7863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AI Frequency &amp; Hours/Week are the strongest positive predictors of high GPA.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9766"/>
            <a:ext cx="7863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Copying AI content and critical thinking perception had near-zero or negative impact.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26796"/>
            <a:ext cx="7863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The logistic regression achieved 66.7% accuracy on the full 57-student dataset.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00984"/>
            <a:ext cx="7863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Students perceiving AI as improving their grades tended to score higher (coef +0.29).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Responsible AI use — not just frequency — appears key to academic performance.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606</Words>
  <Application>Microsoft Office PowerPoint</Application>
  <PresentationFormat>On-screen Show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Survey – GPA Analysis</dc:title>
  <dc:subject>PptxGenJS Presentation</dc:subject>
  <dc:creator>PptxGenJS</dc:creator>
  <cp:lastModifiedBy>ROG</cp:lastModifiedBy>
  <cp:revision>2</cp:revision>
  <dcterms:created xsi:type="dcterms:W3CDTF">2026-04-23T09:21:44Z</dcterms:created>
  <dcterms:modified xsi:type="dcterms:W3CDTF">2026-04-23T09:59:39Z</dcterms:modified>
</cp:coreProperties>
</file>